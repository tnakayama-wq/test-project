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2374" y="252374"/>
            <a:ext cx="6400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収益不動産のご案内　／　フロア一括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52374" y="42611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サンリーノ港北センター北　</a:t>
            </a:r>
            <a:pPr indent="0" marL="0">
              <a:buNone/>
            </a:pPr>
            <a:r>
              <a:rPr lang="en-US" sz="20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1階</a:t>
            </a:r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店舗一括（4区画）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52374" y="764438"/>
            <a:ext cx="10186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「センター北」駅 徒歩5分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／都筑区中川中央1-39-29／RC造 地上7階建の1階部分／1997年築（新耐震）・2026年改修済／全4区画賃貸中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2374" y="1008583"/>
            <a:ext cx="10184587" cy="0"/>
          </a:xfrm>
          <a:prstGeom prst="line">
            <a:avLst/>
          </a:prstGeom>
          <a:noFill/>
          <a:ln w="27940">
            <a:solidFill>
              <a:srgbClr val="161B1A"/>
            </a:solidFill>
            <a:prstDash val="solid"/>
          </a:ln>
        </p:spPr>
      </p:sp>
      <p:pic>
        <p:nvPicPr>
          <p:cNvPr id="6" name="Image 0" descr="ph_zumen_1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" y="1116482"/>
            <a:ext cx="4464101" cy="3456432"/>
          </a:xfrm>
          <a:prstGeom prst="rect">
            <a:avLst/>
          </a:prstGeom>
        </p:spPr>
      </p:pic>
      <p:pic>
        <p:nvPicPr>
          <p:cNvPr id="7" name="Image 1" descr="ph_annaiz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" y="4716475"/>
            <a:ext cx="4464101" cy="176387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6612" y="1116482"/>
            <a:ext cx="2395728" cy="1044245"/>
          </a:xfrm>
          <a:prstGeom prst="rect">
            <a:avLst/>
          </a:prstGeom>
          <a:solidFill>
            <a:srgbClr val="F7E4E1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92340" y="1116482"/>
            <a:ext cx="1572768" cy="1044245"/>
          </a:xfrm>
          <a:prstGeom prst="rect">
            <a:avLst/>
          </a:prstGeom>
          <a:solidFill>
            <a:srgbClr val="FFFFFF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865108" y="1116482"/>
            <a:ext cx="1572768" cy="1044245"/>
          </a:xfrm>
          <a:prstGeom prst="rect">
            <a:avLst/>
          </a:prstGeom>
          <a:solidFill>
            <a:srgbClr val="FFFFFF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997196" y="1217066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販売価格（1階一括・税込）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997196" y="142737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2億7,996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997196" y="186629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4区画一括／オーナーチェンジ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392924" y="121706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92924" y="144566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4.66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392924" y="186629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表面 4.97％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965692" y="121706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現況利回り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965692" y="144566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3.41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965692" y="186629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表面 3.83％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896612" y="2232965"/>
            <a:ext cx="5544007" cy="936346"/>
          </a:xfrm>
          <a:prstGeom prst="rect">
            <a:avLst/>
          </a:prstGeom>
          <a:solidFill>
            <a:srgbClr val="FFFFFF"/>
          </a:solidFill>
          <a:ln w="12700">
            <a:solidFill>
              <a:srgbClr val="8F999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668616" y="2232965"/>
            <a:ext cx="0" cy="936346"/>
          </a:xfrm>
          <a:prstGeom prst="line">
            <a:avLst/>
          </a:prstGeom>
          <a:noFill/>
          <a:ln w="12700">
            <a:solidFill>
              <a:srgbClr val="C4CBC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997196" y="2333549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専有面積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997196" y="2333549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311.57㎡・94.25坪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4997196" y="2589581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坪単価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997196" y="2589581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297.0万円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4997196" y="284561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購入一時金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4997196" y="2845613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3,484,800円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769200" y="2333549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現行賃料（月）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7769200" y="2333549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981,904円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769200" y="2589581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査定賃料（月）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769200" y="2589581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1,274,900円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7769200" y="284561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差額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7769200" y="2845613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60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+292,996円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896612" y="3241548"/>
            <a:ext cx="5544007" cy="2232050"/>
          </a:xfrm>
          <a:prstGeom prst="rect">
            <a:avLst/>
          </a:prstGeom>
          <a:solidFill>
            <a:srgbClr val="FFFFFF"/>
          </a:solidFill>
          <a:ln w="12700">
            <a:solidFill>
              <a:srgbClr val="8F999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896612" y="3241548"/>
            <a:ext cx="5544007" cy="237744"/>
          </a:xfrm>
          <a:prstGeom prst="rect">
            <a:avLst/>
          </a:prstGeom>
          <a:solidFill>
            <a:srgbClr val="F2F5F4"/>
          </a:solidFill>
          <a:ln w="12700">
            <a:solidFill>
              <a:srgbClr val="C4CBC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997196" y="3287268"/>
            <a:ext cx="5342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賃貸状況　／　賃料は月額・税込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6612" y="3479292"/>
          <a:ext cx="801700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81328"/>
                <a:gridCol w="868680"/>
                <a:gridCol w="1133856"/>
                <a:gridCol w="1143000"/>
              </a:tblGrid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号室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面積㎡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現行賃料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査定賃料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美容院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136.40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444,400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554,400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障がい者サービス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59.81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159,500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244,200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理容室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46.40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159,104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191,400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電気通信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68.96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218,900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284,900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4区画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311.57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981,904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1,274,900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</a:tr>
            </a:tbl>
          </a:graphicData>
        </a:graphic>
      </p:graphicFrame>
      <p:sp>
        <p:nvSpPr>
          <p:cNvPr id="38" name="Shape 33"/>
          <p:cNvSpPr/>
          <p:nvPr/>
        </p:nvSpPr>
        <p:spPr>
          <a:xfrm>
            <a:off x="4896612" y="5545836"/>
            <a:ext cx="36576" cy="384048"/>
          </a:xfrm>
          <a:prstGeom prst="rect">
            <a:avLst/>
          </a:prstGeom>
          <a:solidFill>
            <a:srgbClr val="AE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015484" y="5545836"/>
            <a:ext cx="5425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駅徒歩5分の1階路面4区画。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現行賃料は当社査定水準を約30％下回っており、賃料の是正余地が残されています。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4896612" y="5957316"/>
            <a:ext cx="554400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buNone/>
            </a:pPr>
            <a:r>
              <a:rPr lang="en-US" sz="500" dirty="0">
                <a:solidFill>
                  <a:srgbClr val="7C87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査定賃料は2026年4月6日付ハウジングセンター（株）家賃査定報告に基づく当社査定であり、実際の賃料改定は賃借人との個別協議によります。NOIは（年間賃料（税込）−管理費等−固定資産税等）÷（販売価格（税込）＋購入一時金）で算出。固定資産税等は想定額であり正式な額ではありません。管理費・修繕積立金・駐車場・看板料等は最終確定前のため変更となる場合があります。表面利回りは経費控除前（年間賃料（税別）÷販売価格（税込））。別途、管理費等 月123,080円・固定資産税等（想定）年650,200円および取得時諸費用が必要です。価格・条件は予告なく変更される場合があり、最終条件は売買契約書によります。本物件は共同住宅を含む一棟の建物の一部（区分所有）です。管理規約上の用途制限、一部共用部分の負担区分等は別途資料にてご確認ください。</a:t>
            </a:r>
            <a:endParaRPr lang="en-US" sz="500" dirty="0"/>
          </a:p>
        </p:txBody>
      </p:sp>
      <p:sp>
        <p:nvSpPr>
          <p:cNvPr id="41" name="Shape 36"/>
          <p:cNvSpPr/>
          <p:nvPr/>
        </p:nvSpPr>
        <p:spPr>
          <a:xfrm>
            <a:off x="0" y="6480353"/>
            <a:ext cx="10689336" cy="1079906"/>
          </a:xfrm>
          <a:prstGeom prst="rect">
            <a:avLst/>
          </a:prstGeom>
          <a:solidFill>
            <a:srgbClr val="E9ED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0" y="6480353"/>
            <a:ext cx="10689336" cy="0"/>
          </a:xfrm>
          <a:prstGeom prst="line">
            <a:avLst/>
          </a:prstGeom>
          <a:noFill/>
          <a:ln w="12700">
            <a:solidFill>
              <a:srgbClr val="8F9995"/>
            </a:solidFill>
            <a:prstDash val="dash"/>
          </a:ln>
        </p:spPr>
      </p:sp>
      <p:sp>
        <p:nvSpPr>
          <p:cNvPr id="43" name="Text 38"/>
          <p:cNvSpPr/>
          <p:nvPr/>
        </p:nvSpPr>
        <p:spPr>
          <a:xfrm>
            <a:off x="252374" y="6306617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C87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 ── この線から下は元付情報欄です ──</a:t>
            </a:r>
            <a:endParaRPr lang="en-US" sz="700" dirty="0"/>
          </a:p>
        </p:txBody>
      </p:sp>
      <p:sp>
        <p:nvSpPr>
          <p:cNvPr id="44" name="Text 39"/>
          <p:cNvSpPr/>
          <p:nvPr/>
        </p:nvSpPr>
        <p:spPr>
          <a:xfrm>
            <a:off x="252374" y="6626657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売主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252374" y="6818681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サンヨーホームズ株式会社</a:t>
            </a:r>
            <a:endParaRPr lang="en-US" sz="1500" dirty="0"/>
          </a:p>
        </p:txBody>
      </p:sp>
      <p:sp>
        <p:nvSpPr>
          <p:cNvPr id="46" name="Text 41"/>
          <p:cNvSpPr/>
          <p:nvPr/>
        </p:nvSpPr>
        <p:spPr>
          <a:xfrm>
            <a:off x="252374" y="7138721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取引態様：</a:t>
            </a:r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売主</a:t>
            </a:r>
            <a:endParaRPr lang="en-US" sz="1200" dirty="0"/>
          </a:p>
        </p:txBody>
      </p:sp>
      <p:sp>
        <p:nvSpPr>
          <p:cNvPr id="47" name="Text 42"/>
          <p:cNvSpPr/>
          <p:nvPr/>
        </p:nvSpPr>
        <p:spPr>
          <a:xfrm>
            <a:off x="3566160" y="6626657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本件お問合せ先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3566160" y="6846113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　中山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TEL 080-3724-6012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3566160" y="7138721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takeshi_nakayama052@sanyohomes.co.jp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8138160" y="6626657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物件番号</a:t>
            </a:r>
            <a:endParaRPr lang="en-US" sz="1200" dirty="0"/>
          </a:p>
        </p:txBody>
      </p:sp>
      <p:sp>
        <p:nvSpPr>
          <p:cNvPr id="51" name="Text 46"/>
          <p:cNvSpPr/>
          <p:nvPr/>
        </p:nvSpPr>
        <p:spPr>
          <a:xfrm>
            <a:off x="8138160" y="6818681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SNK-1F-2608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2374" y="252374"/>
            <a:ext cx="6400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収益不動産のご案内　／　フロア一括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52374" y="42611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サンリーノ港北センター北　</a:t>
            </a:r>
            <a:pPr indent="0" marL="0">
              <a:buNone/>
            </a:pPr>
            <a:r>
              <a:rPr lang="en-US" sz="20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2階</a:t>
            </a:r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事務所一括（4区画）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52374" y="764438"/>
            <a:ext cx="10186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「センター北」駅 徒歩5分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／都筑区中川中央1-39-29／RC造 地上7階建の2階部分／1997年築（新耐震）・2026年改修済／全4区画賃貸中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2374" y="1008583"/>
            <a:ext cx="10184587" cy="0"/>
          </a:xfrm>
          <a:prstGeom prst="line">
            <a:avLst/>
          </a:prstGeom>
          <a:noFill/>
          <a:ln w="27940">
            <a:solidFill>
              <a:srgbClr val="161B1A"/>
            </a:solidFill>
            <a:prstDash val="solid"/>
          </a:ln>
        </p:spPr>
      </p:sp>
      <p:pic>
        <p:nvPicPr>
          <p:cNvPr id="6" name="Image 0" descr="ph_zumen_2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" y="1116482"/>
            <a:ext cx="4464101" cy="3456432"/>
          </a:xfrm>
          <a:prstGeom prst="rect">
            <a:avLst/>
          </a:prstGeom>
        </p:spPr>
      </p:pic>
      <p:pic>
        <p:nvPicPr>
          <p:cNvPr id="7" name="Image 1" descr="ph_annaiz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" y="4716475"/>
            <a:ext cx="4464101" cy="176387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6612" y="1116482"/>
            <a:ext cx="2395728" cy="1044245"/>
          </a:xfrm>
          <a:prstGeom prst="rect">
            <a:avLst/>
          </a:prstGeom>
          <a:solidFill>
            <a:srgbClr val="F7E4E1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92340" y="1116482"/>
            <a:ext cx="1572768" cy="1044245"/>
          </a:xfrm>
          <a:prstGeom prst="rect">
            <a:avLst/>
          </a:prstGeom>
          <a:solidFill>
            <a:srgbClr val="FFFFFF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865108" y="1116482"/>
            <a:ext cx="1572768" cy="1044245"/>
          </a:xfrm>
          <a:prstGeom prst="rect">
            <a:avLst/>
          </a:prstGeom>
          <a:solidFill>
            <a:srgbClr val="FFFFFF"/>
          </a:solidFill>
          <a:ln w="15240">
            <a:solidFill>
              <a:srgbClr val="161B1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997196" y="1217066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販売価格（2階一括・税込）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997196" y="142737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3億4,796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万円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997196" y="186629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4区画一括／オーナーチェンジ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392924" y="121706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想定利回り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392924" y="144566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4.96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392924" y="186629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表面 5.34％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965692" y="121706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現況利回り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965692" y="144566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3.56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％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965692" y="186629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表面 4.04％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896612" y="2232965"/>
            <a:ext cx="5544007" cy="936346"/>
          </a:xfrm>
          <a:prstGeom prst="rect">
            <a:avLst/>
          </a:prstGeom>
          <a:solidFill>
            <a:srgbClr val="FFFFFF"/>
          </a:solidFill>
          <a:ln w="12700">
            <a:solidFill>
              <a:srgbClr val="8F999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668616" y="2232965"/>
            <a:ext cx="0" cy="936346"/>
          </a:xfrm>
          <a:prstGeom prst="line">
            <a:avLst/>
          </a:prstGeom>
          <a:noFill/>
          <a:ln w="12700">
            <a:solidFill>
              <a:srgbClr val="C4CBC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997196" y="2333549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専有面積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997196" y="2333549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432.06㎡・130.70坪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4997196" y="2589581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坪単価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997196" y="2589581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266.2万円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4997196" y="284561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購入一時金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4997196" y="2845613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5,613,000円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769200" y="2333549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現行賃料（月）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7769200" y="2333549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1,290,128円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769200" y="2589581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査定賃料（月）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769200" y="2589581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1,703,900円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7769200" y="2845613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差額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7769200" y="2845613"/>
            <a:ext cx="2570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660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+413,772円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896612" y="3241548"/>
            <a:ext cx="5544007" cy="2232050"/>
          </a:xfrm>
          <a:prstGeom prst="rect">
            <a:avLst/>
          </a:prstGeom>
          <a:solidFill>
            <a:srgbClr val="FFFFFF"/>
          </a:solidFill>
          <a:ln w="12700">
            <a:solidFill>
              <a:srgbClr val="8F9995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896612" y="3241548"/>
            <a:ext cx="5544007" cy="237744"/>
          </a:xfrm>
          <a:prstGeom prst="rect">
            <a:avLst/>
          </a:prstGeom>
          <a:solidFill>
            <a:srgbClr val="F2F5F4"/>
          </a:solidFill>
          <a:ln w="12700">
            <a:solidFill>
              <a:srgbClr val="C4CBC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997196" y="3287268"/>
            <a:ext cx="5342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賃貸状況　／　賃料は月額・税込（201+202・205+206は2戸一）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6612" y="3479292"/>
          <a:ext cx="801700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81328"/>
                <a:gridCol w="868680"/>
                <a:gridCol w="1133856"/>
                <a:gridCol w="1143000"/>
              </a:tblGrid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号室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面積㎡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現行賃料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E595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査定賃料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201+202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学習塾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132.00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386,148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521,400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駐車場メンテ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70.95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235,400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280,500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205+206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児童発達支援教室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122.80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328,900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484,000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内科クリニック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106.31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339,680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418,000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4区画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432.06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1,290,128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61B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1,703,900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88900" marR="889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4C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4"/>
                    </a:solidFill>
                  </a:tcPr>
                </a:tc>
              </a:tr>
            </a:tbl>
          </a:graphicData>
        </a:graphic>
      </p:graphicFrame>
      <p:sp>
        <p:nvSpPr>
          <p:cNvPr id="38" name="Shape 33"/>
          <p:cNvSpPr/>
          <p:nvPr/>
        </p:nvSpPr>
        <p:spPr>
          <a:xfrm>
            <a:off x="4896612" y="5545836"/>
            <a:ext cx="36576" cy="384048"/>
          </a:xfrm>
          <a:prstGeom prst="rect">
            <a:avLst/>
          </a:prstGeom>
          <a:solidFill>
            <a:srgbClr val="AE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5015484" y="5545836"/>
            <a:ext cx="5425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教育・医療・福祉で3区画。クリニック・児発は行政の指定を受ける業種で定着性が高く、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AE2F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現行賃料は査定水準を約32％下回っています。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4896612" y="5957316"/>
            <a:ext cx="554400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buNone/>
            </a:pPr>
            <a:r>
              <a:rPr lang="en-US" sz="500" dirty="0">
                <a:solidFill>
                  <a:srgbClr val="7C87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査定賃料は2026年4月6日付ハウジングセンター（株）家賃査定報告に基づく当社査定であり、実際の賃料改定は賃借人との個別協議によります。NOIは（年間賃料（税込）−管理費等−固定資産税等）÷（販売価格（税込）＋購入一時金）で算出。固定資産税等は想定額であり正式な額ではありません。管理費・修繕積立金・駐車場・看板料等は最終確定前のため変更となる場合があります。表面利回りは経費控除前（年間賃料（税別）÷販売価格（税込））。別途、管理費等 月170,680円・固定資産税等（想定）年834,400円および取得時諸費用が必要です。価格・条件は予告なく変更される場合があり、最終条件は売買契約書によります。本物件は共同住宅を含む一棟の建物の一部（区分所有）です。管理規約上の用途制限、一部共用部分の負担区分等は別途資料にてご確認ください。</a:t>
            </a:r>
            <a:endParaRPr lang="en-US" sz="500" dirty="0"/>
          </a:p>
        </p:txBody>
      </p:sp>
      <p:sp>
        <p:nvSpPr>
          <p:cNvPr id="41" name="Shape 36"/>
          <p:cNvSpPr/>
          <p:nvPr/>
        </p:nvSpPr>
        <p:spPr>
          <a:xfrm>
            <a:off x="0" y="6480353"/>
            <a:ext cx="10689336" cy="1079906"/>
          </a:xfrm>
          <a:prstGeom prst="rect">
            <a:avLst/>
          </a:prstGeom>
          <a:solidFill>
            <a:srgbClr val="E9ED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0" y="6480353"/>
            <a:ext cx="10689336" cy="0"/>
          </a:xfrm>
          <a:prstGeom prst="line">
            <a:avLst/>
          </a:prstGeom>
          <a:noFill/>
          <a:ln w="12700">
            <a:solidFill>
              <a:srgbClr val="8F9995"/>
            </a:solidFill>
            <a:prstDash val="dash"/>
          </a:ln>
        </p:spPr>
      </p:sp>
      <p:sp>
        <p:nvSpPr>
          <p:cNvPr id="43" name="Text 38"/>
          <p:cNvSpPr/>
          <p:nvPr/>
        </p:nvSpPr>
        <p:spPr>
          <a:xfrm>
            <a:off x="252374" y="6306617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C87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 ── この線から下は元付情報欄です ──</a:t>
            </a:r>
            <a:endParaRPr lang="en-US" sz="700" dirty="0"/>
          </a:p>
        </p:txBody>
      </p:sp>
      <p:sp>
        <p:nvSpPr>
          <p:cNvPr id="44" name="Text 39"/>
          <p:cNvSpPr/>
          <p:nvPr/>
        </p:nvSpPr>
        <p:spPr>
          <a:xfrm>
            <a:off x="252374" y="6626657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売主</a:t>
            </a:r>
            <a:endParaRPr lang="en-US" sz="1200" dirty="0"/>
          </a:p>
        </p:txBody>
      </p:sp>
      <p:sp>
        <p:nvSpPr>
          <p:cNvPr id="45" name="Text 40"/>
          <p:cNvSpPr/>
          <p:nvPr/>
        </p:nvSpPr>
        <p:spPr>
          <a:xfrm>
            <a:off x="252374" y="6818681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サンヨーホームズ株式会社</a:t>
            </a:r>
            <a:endParaRPr lang="en-US" sz="1500" dirty="0"/>
          </a:p>
        </p:txBody>
      </p:sp>
      <p:sp>
        <p:nvSpPr>
          <p:cNvPr id="46" name="Text 41"/>
          <p:cNvSpPr/>
          <p:nvPr/>
        </p:nvSpPr>
        <p:spPr>
          <a:xfrm>
            <a:off x="252374" y="7138721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取引態様：</a:t>
            </a:r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売主</a:t>
            </a:r>
            <a:endParaRPr lang="en-US" sz="1200" dirty="0"/>
          </a:p>
        </p:txBody>
      </p:sp>
      <p:sp>
        <p:nvSpPr>
          <p:cNvPr id="47" name="Text 42"/>
          <p:cNvSpPr/>
          <p:nvPr/>
        </p:nvSpPr>
        <p:spPr>
          <a:xfrm>
            <a:off x="3566160" y="6626657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本件お問合せ先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3566160" y="6846113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　中山</a:t>
            </a:r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TEL 080-3724-6012</a:t>
            </a:r>
            <a:endParaRPr lang="en-US" sz="1200" dirty="0"/>
          </a:p>
        </p:txBody>
      </p:sp>
      <p:sp>
        <p:nvSpPr>
          <p:cNvPr id="49" name="Text 44"/>
          <p:cNvSpPr/>
          <p:nvPr/>
        </p:nvSpPr>
        <p:spPr>
          <a:xfrm>
            <a:off x="3566160" y="7138721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takeshi_nakayama052@sanyohomes.co.jp</a:t>
            </a:r>
            <a:endParaRPr lang="en-US" sz="1200" dirty="0"/>
          </a:p>
        </p:txBody>
      </p:sp>
      <p:sp>
        <p:nvSpPr>
          <p:cNvPr id="50" name="Text 45"/>
          <p:cNvSpPr/>
          <p:nvPr/>
        </p:nvSpPr>
        <p:spPr>
          <a:xfrm>
            <a:off x="8138160" y="6626657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20" kern="0" dirty="0">
                <a:solidFill>
                  <a:srgbClr val="4E595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物件番号</a:t>
            </a:r>
            <a:endParaRPr lang="en-US" sz="1200" dirty="0"/>
          </a:p>
        </p:txBody>
      </p:sp>
      <p:sp>
        <p:nvSpPr>
          <p:cNvPr id="51" name="Text 46"/>
          <p:cNvSpPr/>
          <p:nvPr/>
        </p:nvSpPr>
        <p:spPr>
          <a:xfrm>
            <a:off x="8138160" y="6818681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1B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SNK-2F-2608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2026-08-24T08:09:52Z</dcterms:created>
  <dcterms:modified xsi:type="dcterms:W3CDTF">2026-08-24T08:09:52Z</dcterms:modified>
</cp:coreProperties>
</file>